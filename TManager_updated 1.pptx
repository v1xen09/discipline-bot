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45603-6995-4E7B-8F2F-84C27BE86F0C}" v="328" dt="2026-05-14T20:02:47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-630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90DC7-B3FC-4EA2-AED2-D0BCBE8740E2}" type="datetimeFigureOut">
              <a:rPr/>
              <a:pPr/>
              <a:t>14.05.2026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A78C0-C4BC-4949-95DF-493E077F4D07}" type="slidenum">
              <a:rPr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57612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3200400" cy="3200400"/>
          </a:xfrm>
          <a:prstGeom prst="ellipse">
            <a:avLst/>
          </a:prstGeom>
          <a:solidFill>
            <a:srgbClr val="00C2D4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3291840"/>
            <a:ext cx="2011680" cy="2011680"/>
          </a:xfrm>
          <a:prstGeom prst="ellipse">
            <a:avLst/>
          </a:prstGeom>
          <a:solidFill>
            <a:srgbClr val="00C2D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0C2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TManager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411480" cy="54864"/>
          </a:xfrm>
          <a:prstGeom prst="rect">
            <a:avLst/>
          </a:prstGeom>
          <a:solidFill>
            <a:srgbClr val="00C2D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1089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600" i="1" dirty="0">
                <a:solidFill>
                  <a:srgbClr val="E2EC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Телеграм-бот для управления задачами</a:t>
            </a:r>
            <a:endParaRPr lang="en-US" sz="2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2600" i="1" dirty="0">
                <a:solidFill>
                  <a:srgbClr val="E2EC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 локальным ИИ</a:t>
            </a:r>
            <a:endParaRPr lang="en-US" sz="2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042416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10149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2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Telegram  ·  LM Studio  ·  faster-whisper</a:t>
            </a:r>
            <a:endParaRPr lang="en-US" sz="13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484632" y="4297680"/>
            <a:ext cx="3447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cs typeface="Calibri" pitchFamily="34" charset="0"/>
              </a:rPr>
              <a:t>Разработчик</a:t>
            </a:r>
            <a:r>
              <a:rPr lang="en-US" dirty="0" smtClean="0">
                <a:solidFill>
                  <a:schemeClr val="bg1"/>
                </a:solidFill>
              </a:rPr>
              <a:t>: </a:t>
            </a:r>
            <a:r>
              <a:rPr lang="ru-RU" dirty="0" smtClean="0">
                <a:solidFill>
                  <a:schemeClr val="bg1"/>
                </a:solidFill>
              </a:rPr>
              <a:t>Гусев Владислав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Наставник</a:t>
            </a:r>
            <a:r>
              <a:rPr lang="en-US" dirty="0" smtClean="0">
                <a:solidFill>
                  <a:schemeClr val="bg1"/>
                </a:solidFill>
              </a:rPr>
              <a:t>: </a:t>
            </a:r>
            <a:r>
              <a:rPr lang="ru-RU" dirty="0" smtClean="0">
                <a:solidFill>
                  <a:schemeClr val="bg1"/>
                </a:solidFill>
              </a:rPr>
              <a:t>Скотников Александр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919"/>
                </a:solidFill>
              </a:rPr>
              <a:t>Что такое TManager?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0568" y="822960"/>
            <a:ext cx="8596426" cy="653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err="1">
                <a:latin typeface="Georgia"/>
              </a:rPr>
              <a:t>Личный</a:t>
            </a:r>
            <a:r>
              <a:rPr dirty="0">
                <a:latin typeface="Georgia"/>
              </a:rPr>
              <a:t> AI-</a:t>
            </a:r>
            <a:r>
              <a:rPr err="1">
                <a:latin typeface="Georgia"/>
              </a:rPr>
              <a:t>ассистент</a:t>
            </a:r>
            <a:r>
              <a:rPr dirty="0">
                <a:latin typeface="Georgia"/>
              </a:rPr>
              <a:t> в Telegram </a:t>
            </a:r>
            <a:r>
              <a:rPr err="1">
                <a:latin typeface="Georgia"/>
              </a:rPr>
              <a:t>для</a:t>
            </a:r>
            <a:r>
              <a:rPr dirty="0">
                <a:latin typeface="Georgia"/>
              </a:rPr>
              <a:t> </a:t>
            </a:r>
            <a:r>
              <a:rPr err="1">
                <a:latin typeface="Georgia"/>
              </a:rPr>
              <a:t>управления</a:t>
            </a:r>
            <a:r>
              <a:rPr dirty="0">
                <a:latin typeface="Georgia"/>
              </a:rPr>
              <a:t> </a:t>
            </a:r>
            <a:r>
              <a:rPr>
                <a:latin typeface="Georgia"/>
              </a:rPr>
              <a:t>задачами</a:t>
            </a:r>
            <a:endParaRPr lang="ru-RU" b="1">
              <a:latin typeface="Georgia"/>
            </a:endParaRPr>
          </a:p>
          <a:p>
            <a:r>
              <a:rPr lang="ru-RU" dirty="0">
                <a:latin typeface="Georgia"/>
              </a:rPr>
              <a:t> </a:t>
            </a:r>
            <a:r>
              <a:rPr dirty="0">
                <a:latin typeface="Georgia"/>
              </a:rPr>
              <a:t>и </a:t>
            </a:r>
            <a:r>
              <a:rPr err="1">
                <a:latin typeface="Georgia"/>
              </a:rPr>
              <a:t>продуктивностью</a:t>
            </a:r>
            <a:endParaRPr lang="ru-RU" b="1">
              <a:latin typeface="Georg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91562" y="1626365"/>
            <a:ext cx="7772400" cy="49548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Telegram-бот — </a:t>
            </a:r>
            <a:r>
              <a:rPr sz="1500"/>
              <a:t>Управление задачами, расписанием и привычками прямо в мессенджере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1562" y="2290957"/>
            <a:ext cx="7772400" cy="49548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Локальный ИИ — </a:t>
            </a:r>
            <a:r>
              <a:rPr sz="1500"/>
              <a:t>Данные обрабатываются на вашем устройстве без отправки в облако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1562" y="2955550"/>
            <a:ext cx="7772400" cy="49548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Голосовое взаимодействие — </a:t>
            </a:r>
            <a:r>
              <a:rPr sz="1500"/>
              <a:t>Распознавание речи через faster-whisper прямо на устройстве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1562" y="3620142"/>
            <a:ext cx="7772400" cy="49548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Гибкость — </a:t>
            </a:r>
            <a:r>
              <a:rPr sz="1500"/>
              <a:t>Поддержка разных моделей и сценариев использования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1562" y="4284735"/>
            <a:ext cx="7772400" cy="49548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Автономность — </a:t>
            </a:r>
            <a:r>
              <a:rPr sz="1500"/>
              <a:t>При наличии подходящего железа проект можно полностью запускать на своем ПК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Ключевые возможности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234440"/>
            <a:ext cx="73152" cy="3566160"/>
          </a:xfrm>
          <a:prstGeom prst="rect">
            <a:avLst/>
          </a:prstGeom>
          <a:solidFill>
            <a:srgbClr val="00C2D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508760"/>
            <a:ext cx="457200" cy="457200"/>
          </a:xfrm>
          <a:prstGeom prst="ellipse">
            <a:avLst/>
          </a:prstGeom>
          <a:solidFill>
            <a:srgbClr val="00C2D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627632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904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Задачи и планирование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8680" y="2313432"/>
            <a:ext cx="91440" cy="91440"/>
          </a:xfrm>
          <a:prstGeom prst="ellipse">
            <a:avLst/>
          </a:prstGeom>
          <a:solidFill>
            <a:srgbClr val="00C2D4"/>
          </a:solidFill>
          <a:ln/>
        </p:spPr>
      </p:sp>
      <p:sp>
        <p:nvSpPr>
          <p:cNvPr id="9" name="Text 6"/>
          <p:cNvSpPr/>
          <p:nvPr/>
        </p:nvSpPr>
        <p:spPr>
          <a:xfrm>
            <a:off x="1069848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Дедлайны и приоритеты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" y="2770632"/>
            <a:ext cx="91440" cy="91440"/>
          </a:xfrm>
          <a:prstGeom prst="ellipse">
            <a:avLst/>
          </a:prstGeom>
          <a:solidFill>
            <a:srgbClr val="00C2D4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Повторяющиеся задачи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68680" y="3227832"/>
            <a:ext cx="91440" cy="91440"/>
          </a:xfrm>
          <a:prstGeom prst="ellipse">
            <a:avLst/>
          </a:prstGeom>
          <a:solidFill>
            <a:srgbClr val="00C2D4"/>
          </a:solidFill>
          <a:ln/>
        </p:spPr>
      </p:sp>
      <p:sp>
        <p:nvSpPr>
          <p:cNvPr id="13" name="Text 10"/>
          <p:cNvSpPr/>
          <p:nvPr/>
        </p:nvSpPr>
        <p:spPr>
          <a:xfrm>
            <a:off x="1069848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AI-расписание дня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68680" y="3685032"/>
            <a:ext cx="91440" cy="91440"/>
          </a:xfrm>
          <a:prstGeom prst="ellipse">
            <a:avLst/>
          </a:prstGeom>
          <a:solidFill>
            <a:srgbClr val="00C2D4"/>
          </a:solidFill>
          <a:ln/>
        </p:spPr>
      </p:sp>
      <p:sp>
        <p:nvSpPr>
          <p:cNvPr id="15" name="Text 12"/>
          <p:cNvSpPr/>
          <p:nvPr/>
        </p:nvSpPr>
        <p:spPr>
          <a:xfrm>
            <a:off x="1069848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Умные уведомления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68680" y="4142232"/>
            <a:ext cx="91440" cy="91440"/>
          </a:xfrm>
          <a:prstGeom prst="ellipse">
            <a:avLst/>
          </a:prstGeom>
          <a:solidFill>
            <a:srgbClr val="00C2D4"/>
          </a:solidFill>
          <a:ln/>
        </p:spPr>
      </p:sp>
      <p:sp>
        <p:nvSpPr>
          <p:cNvPr id="17" name="Text 14"/>
          <p:cNvSpPr/>
          <p:nvPr/>
        </p:nvSpPr>
        <p:spPr>
          <a:xfrm>
            <a:off x="1069848" y="4023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и фильтрация задач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663440" y="123444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1234440"/>
            <a:ext cx="73152" cy="3566160"/>
          </a:xfrm>
          <a:prstGeom prst="rect">
            <a:avLst/>
          </a:prstGeom>
          <a:solidFill>
            <a:srgbClr val="00C2D4"/>
          </a:solidFill>
          <a:ln/>
        </p:spPr>
      </p:sp>
      <p:sp>
        <p:nvSpPr>
          <p:cNvPr id="20" name="Shape 17"/>
          <p:cNvSpPr/>
          <p:nvPr/>
        </p:nvSpPr>
        <p:spPr>
          <a:xfrm>
            <a:off x="4983480" y="1508760"/>
            <a:ext cx="457200" cy="457200"/>
          </a:xfrm>
          <a:prstGeom prst="ellipse">
            <a:avLst/>
          </a:prstGeom>
          <a:solidFill>
            <a:srgbClr val="00C2D4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1627632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577840" y="14904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ИИ и голос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5029200" y="2313432"/>
            <a:ext cx="91440" cy="91440"/>
          </a:xfrm>
          <a:prstGeom prst="ellipse">
            <a:avLst/>
          </a:prstGeom>
          <a:solidFill>
            <a:srgbClr val="00C2D4"/>
          </a:solidFill>
          <a:ln/>
        </p:spPr>
      </p:sp>
      <p:sp>
        <p:nvSpPr>
          <p:cNvPr id="24" name="Text 20"/>
          <p:cNvSpPr/>
          <p:nvPr/>
        </p:nvSpPr>
        <p:spPr>
          <a:xfrm>
            <a:off x="5230368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через faster-whisper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5029200" y="2770632"/>
            <a:ext cx="91440" cy="91440"/>
          </a:xfrm>
          <a:prstGeom prst="ellipse">
            <a:avLst/>
          </a:prstGeom>
          <a:solidFill>
            <a:srgbClr val="00C2D4"/>
          </a:solidFill>
          <a:ln/>
        </p:spPr>
      </p:sp>
      <p:sp>
        <p:nvSpPr>
          <p:cNvPr id="26" name="Text 22"/>
          <p:cNvSpPr/>
          <p:nvPr/>
        </p:nvSpPr>
        <p:spPr>
          <a:xfrm>
            <a:off x="5230368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диалог с ИИ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5029200" y="3227832"/>
            <a:ext cx="91440" cy="91440"/>
          </a:xfrm>
          <a:prstGeom prst="ellipse">
            <a:avLst/>
          </a:prstGeom>
          <a:solidFill>
            <a:srgbClr val="00C2D4"/>
          </a:solidFill>
          <a:ln/>
        </p:spPr>
      </p:sp>
      <p:sp>
        <p:nvSpPr>
          <p:cNvPr id="28" name="Text 24"/>
          <p:cNvSpPr/>
          <p:nvPr/>
        </p:nvSpPr>
        <p:spPr>
          <a:xfrm>
            <a:off x="5230368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Дневник привычек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5029200" y="3685032"/>
            <a:ext cx="91440" cy="91440"/>
          </a:xfrm>
          <a:prstGeom prst="ellipse">
            <a:avLst/>
          </a:prstGeom>
          <a:solidFill>
            <a:srgbClr val="00C2D4"/>
          </a:solidFill>
          <a:ln/>
        </p:spPr>
      </p:sp>
      <p:sp>
        <p:nvSpPr>
          <p:cNvPr id="30" name="Text 26"/>
          <p:cNvSpPr/>
          <p:nvPr/>
        </p:nvSpPr>
        <p:spPr>
          <a:xfrm>
            <a:off x="5230368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стиля общения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5029200" y="4142232"/>
            <a:ext cx="91440" cy="91440"/>
          </a:xfrm>
          <a:prstGeom prst="ellipse">
            <a:avLst/>
          </a:prstGeom>
          <a:solidFill>
            <a:srgbClr val="00C2D4"/>
          </a:solidFill>
          <a:ln/>
        </p:spPr>
      </p:sp>
      <p:sp>
        <p:nvSpPr>
          <p:cNvPr id="32" name="Text 28"/>
          <p:cNvSpPr/>
          <p:nvPr/>
        </p:nvSpPr>
        <p:spPr>
          <a:xfrm>
            <a:off x="5230368" y="4023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разговора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Геймификация и мотивация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стриков подкрепляет регулярность — каждый рубеж отмечается отдельным символом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20140" y="2560320"/>
            <a:ext cx="6995160" cy="0"/>
          </a:xfrm>
          <a:prstGeom prst="line">
            <a:avLst/>
          </a:prstGeom>
          <a:noFill/>
          <a:ln w="25400">
            <a:solidFill>
              <a:srgbClr val="00C2D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80060" y="1920240"/>
            <a:ext cx="1280160" cy="1280160"/>
          </a:xfrm>
          <a:prstGeom prst="ellipse">
            <a:avLst/>
          </a:prstGeom>
          <a:solidFill>
            <a:srgbClr val="00C2D4">
              <a:alpha val="25000"/>
            </a:srgbClr>
          </a:solidFill>
          <a:ln w="25400">
            <a:solidFill>
              <a:srgbClr val="00C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🌱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день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611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Росток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9092" y="1920240"/>
            <a:ext cx="1280160" cy="1280160"/>
          </a:xfrm>
          <a:prstGeom prst="ellipse">
            <a:avLst/>
          </a:prstGeom>
          <a:solidFill>
            <a:srgbClr val="00C2D4">
              <a:alpha val="40000"/>
            </a:srgbClr>
          </a:solidFill>
          <a:ln w="25400">
            <a:solidFill>
              <a:srgbClr val="00C2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9092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🌿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901952" y="3291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дня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01952" y="3611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Побег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78124" y="1920240"/>
            <a:ext cx="1280160" cy="1280160"/>
          </a:xfrm>
          <a:prstGeom prst="ellipse">
            <a:avLst/>
          </a:prstGeom>
          <a:solidFill>
            <a:srgbClr val="00C2D4">
              <a:alpha val="55000"/>
            </a:srgbClr>
          </a:solidFill>
          <a:ln w="25400">
            <a:solidFill>
              <a:srgbClr val="00C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8124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🔥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300984" y="3291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дней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00984" y="3611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Огонь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77156" y="1920240"/>
            <a:ext cx="1280160" cy="1280160"/>
          </a:xfrm>
          <a:prstGeom prst="ellipse">
            <a:avLst/>
          </a:prstGeom>
          <a:solidFill>
            <a:srgbClr val="00C2D4">
              <a:alpha val="70000"/>
            </a:srgbClr>
          </a:solidFill>
          <a:ln w="25400">
            <a:solidFill>
              <a:srgbClr val="00C2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7156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⚡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4700016" y="3291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дней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00016" y="3611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Молния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76188" y="1920240"/>
            <a:ext cx="1280160" cy="1280160"/>
          </a:xfrm>
          <a:prstGeom prst="ellipse">
            <a:avLst/>
          </a:prstGeom>
          <a:solidFill>
            <a:srgbClr val="00C2D4">
              <a:alpha val="85000"/>
            </a:srgbClr>
          </a:solidFill>
          <a:ln w="25400">
            <a:solidFill>
              <a:srgbClr val="00C2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618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💎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099048" y="3291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дней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99048" y="3611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Алмаз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75220" y="1920240"/>
            <a:ext cx="1280160" cy="1280160"/>
          </a:xfrm>
          <a:prstGeom prst="ellipse">
            <a:avLst/>
          </a:prstGeom>
          <a:solidFill>
            <a:srgbClr val="00C2D4"/>
          </a:solidFill>
          <a:ln w="25400">
            <a:solidFill>
              <a:srgbClr val="00C2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52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👑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7498080" y="3291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дней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98080" y="3611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Корона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251960"/>
            <a:ext cx="8138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4251960"/>
            <a:ext cx="73152" cy="640080"/>
          </a:xfrm>
          <a:prstGeom prst="rect">
            <a:avLst/>
          </a:prstGeom>
          <a:solidFill>
            <a:srgbClr val="00C2D4"/>
          </a:solidFill>
          <a:ln/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25696"/>
            <a:ext cx="292608" cy="29260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88720" y="4251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достижение бот отмечает персональным поздравлением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Дополнительные функции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325880"/>
            <a:ext cx="2697480" cy="73152"/>
          </a:xfrm>
          <a:prstGeom prst="rect">
            <a:avLst/>
          </a:prstGeom>
          <a:solidFill>
            <a:srgbClr val="00C2D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0C2D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600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Помодоро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Фокус-сессии 25/5 минут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3500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8B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focus_mode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25880"/>
            <a:ext cx="2697480" cy="73152"/>
          </a:xfrm>
          <a:prstGeom prst="rect">
            <a:avLst/>
          </a:prstGeom>
          <a:solidFill>
            <a:srgbClr val="00C2D4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1600200"/>
            <a:ext cx="594360" cy="594360"/>
          </a:xfrm>
          <a:prstGeom prst="ellipse">
            <a:avLst/>
          </a:prstGeom>
          <a:solidFill>
            <a:srgbClr val="00C2D4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06240" y="1600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Заметки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06240" y="19202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Быстрые записи и идеи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23500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8B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notes.py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132588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325880"/>
            <a:ext cx="2697480" cy="73152"/>
          </a:xfrm>
          <a:prstGeom prst="rect">
            <a:avLst/>
          </a:prstGeom>
          <a:solidFill>
            <a:srgbClr val="00C2D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63640" y="1600200"/>
            <a:ext cx="594360" cy="594360"/>
          </a:xfrm>
          <a:prstGeom prst="ellipse">
            <a:avLst/>
          </a:prstGeom>
          <a:solidFill>
            <a:srgbClr val="00C2D4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49440" y="1600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Аналитика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19202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День, неделя, месяц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23500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8B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01752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017520"/>
            <a:ext cx="2697480" cy="73152"/>
          </a:xfrm>
          <a:prstGeom prst="rect">
            <a:avLst/>
          </a:prstGeom>
          <a:solidFill>
            <a:srgbClr val="00C2D4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3291840"/>
            <a:ext cx="594360" cy="594360"/>
          </a:xfrm>
          <a:prstGeom prst="ellipse">
            <a:avLst/>
          </a:prstGeom>
          <a:solidFill>
            <a:srgbClr val="00C2D4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🌤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6304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Погода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36118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Yandex API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4041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8B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weather_api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301752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3017520"/>
            <a:ext cx="2697480" cy="73152"/>
          </a:xfrm>
          <a:prstGeom prst="rect">
            <a:avLst/>
          </a:prstGeom>
          <a:solidFill>
            <a:srgbClr val="00C2D4"/>
          </a:solidFill>
          <a:ln/>
        </p:spPr>
      </p:sp>
      <p:sp>
        <p:nvSpPr>
          <p:cNvPr id="33" name="Shape 31"/>
          <p:cNvSpPr/>
          <p:nvPr/>
        </p:nvSpPr>
        <p:spPr>
          <a:xfrm>
            <a:off x="3520440" y="3291840"/>
            <a:ext cx="594360" cy="594360"/>
          </a:xfrm>
          <a:prstGeom prst="ellipse">
            <a:avLst/>
          </a:prstGeom>
          <a:solidFill>
            <a:srgbClr val="00C2D4"/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📅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20624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Расписание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206240" y="36118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5A6B7E"/>
                </a:solidFill>
                <a:ea typeface="Calibri"/>
                <a:cs typeface="Calibri"/>
              </a:rPr>
              <a:t>Генерация</a:t>
            </a:r>
            <a:r>
              <a:rPr lang="en-US" sz="1200" dirty="0">
                <a:solidFill>
                  <a:srgbClr val="5A6B7E"/>
                </a:solidFill>
                <a:ea typeface="Calibri"/>
                <a:cs typeface="Calibri"/>
              </a:rPr>
              <a:t> с ИИ</a:t>
            </a:r>
          </a:p>
        </p:txBody>
      </p:sp>
      <p:sp>
        <p:nvSpPr>
          <p:cNvPr id="37" name="Text 35"/>
          <p:cNvSpPr/>
          <p:nvPr/>
        </p:nvSpPr>
        <p:spPr>
          <a:xfrm>
            <a:off x="3520440" y="4041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8B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scheduler_jobs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89320" y="301752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89320" y="3017520"/>
            <a:ext cx="2697480" cy="73152"/>
          </a:xfrm>
          <a:prstGeom prst="rect">
            <a:avLst/>
          </a:prstGeom>
          <a:solidFill>
            <a:srgbClr val="00C2D4"/>
          </a:solidFill>
          <a:ln/>
        </p:spPr>
      </p:sp>
      <p:sp>
        <p:nvSpPr>
          <p:cNvPr id="40" name="Shape 38"/>
          <p:cNvSpPr/>
          <p:nvPr/>
        </p:nvSpPr>
        <p:spPr>
          <a:xfrm>
            <a:off x="6263640" y="3291840"/>
            <a:ext cx="594360" cy="594360"/>
          </a:xfrm>
          <a:prstGeom prst="ellipse">
            <a:avLst/>
          </a:prstGeom>
          <a:solidFill>
            <a:srgbClr val="00C2D4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🔒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94944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49440" y="36118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через Flask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63640" y="4041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8B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api.py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508760"/>
            <a:ext cx="4023360" cy="3246120"/>
          </a:xfrm>
          <a:prstGeom prst="rect">
            <a:avLst/>
          </a:prstGeom>
          <a:solidFill>
            <a:srgbClr val="1B2A41"/>
          </a:solidFill>
          <a:ln/>
          <a:effectLst>
            <a:outerShdw blurRad="152400" dist="38100" dir="5400000" algn="bl" rotWithShape="0">
              <a:srgbClr val="1B2A41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508760"/>
            <a:ext cx="4023360" cy="502920"/>
          </a:xfrm>
          <a:prstGeom prst="rect">
            <a:avLst/>
          </a:prstGeom>
          <a:solidFill>
            <a:srgbClr val="0A162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9164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69164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169164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F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Основные модули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bot.py</a:t>
            </a:r>
            <a:r>
              <a:rPr lang="en-US" sz="12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точка входа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151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r>
              <a:rPr lang="en-US" sz="12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SQLite слой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035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ai_client.py</a:t>
            </a:r>
            <a:r>
              <a:rPr lang="en-US" sz="12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LM Studio 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4564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voice_handler.py</a:t>
            </a:r>
            <a:r>
              <a:rPr lang="en-US" sz="12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Whisper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8770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scheduler_jobs.py</a:t>
            </a:r>
            <a:r>
              <a:rPr lang="en-US" sz="12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APScheduler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2976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api.py</a:t>
            </a:r>
            <a:r>
              <a:rPr lang="en-US" sz="12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Flask REST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4023360" cy="3246120"/>
          </a:xfrm>
          <a:prstGeom prst="rect">
            <a:avLst/>
          </a:prstGeom>
          <a:solidFill>
            <a:srgbClr val="1B2A41"/>
          </a:solidFill>
          <a:ln/>
          <a:effectLst>
            <a:outerShdw blurRad="152400" dist="38100" dir="5400000" algn="bl" rotWithShape="0">
              <a:srgbClr val="1B2A41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508760"/>
            <a:ext cx="4023360" cy="502920"/>
          </a:xfrm>
          <a:prstGeom prst="rect">
            <a:avLst/>
          </a:prstGeom>
          <a:solidFill>
            <a:srgbClr val="0A1626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0" y="169164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5074920" y="169164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0" y="169164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F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handlers/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Handlers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21945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12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создание и управление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26151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</a:t>
            </a:r>
            <a:r>
              <a:rPr lang="en-US" sz="12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AI-расписание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3035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ai_chat</a:t>
            </a:r>
            <a:r>
              <a:rPr lang="en-US" sz="12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свободный диалог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34564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voice_message</a:t>
            </a:r>
            <a:r>
              <a:rPr lang="en-US" sz="12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голосовые сообщения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8770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</a:t>
            </a:r>
            <a:r>
              <a:rPr lang="en-US" sz="12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статистика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42976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r>
              <a:rPr lang="en-US" sz="12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настройки и стиль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5763116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3600" b="1" dirty="0" err="1">
                <a:solidFill>
                  <a:srgbClr val="191919"/>
                </a:solidFill>
                <a:latin typeface="Georgia"/>
              </a:rPr>
              <a:t>Технологический</a:t>
            </a:r>
            <a:r>
              <a:rPr sz="3600" b="1" dirty="0">
                <a:solidFill>
                  <a:srgbClr val="191919"/>
                </a:solidFill>
                <a:latin typeface="Georgia"/>
              </a:rPr>
              <a:t> </a:t>
            </a:r>
            <a:r>
              <a:rPr sz="3600" b="1" dirty="0" err="1">
                <a:solidFill>
                  <a:srgbClr val="191919"/>
                </a:solidFill>
                <a:latin typeface="Georgia"/>
              </a:rPr>
              <a:t>стек</a:t>
            </a:r>
            <a:endParaRPr lang="ru-RU" sz="3600" b="1" dirty="0" err="1">
              <a:solidFill>
                <a:srgbClr val="191919"/>
              </a:solidFill>
              <a:latin typeface="Georg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291840" cy="14630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sz="1800" b="1">
                <a:solidFill>
                  <a:schemeClr val="bg1"/>
                </a:solidFill>
              </a:rPr>
              <a:t>Backend</a:t>
            </a:r>
          </a:p>
          <a:p>
            <a:pPr>
              <a:defRPr sz="1400"/>
            </a:pPr>
            <a:r>
              <a:t>• Python 3.10+</a:t>
            </a:r>
          </a:p>
          <a:p>
            <a:pPr>
              <a:defRPr sz="1400"/>
            </a:pPr>
            <a:r>
              <a:t>• python-telegram-bot</a:t>
            </a:r>
          </a:p>
          <a:p>
            <a:pPr>
              <a:defRPr sz="1400"/>
            </a:pPr>
            <a:r>
              <a:t>• Flask REST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280160"/>
            <a:ext cx="3291840" cy="14630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sz="1800" b="1" dirty="0">
                <a:solidFill>
                  <a:schemeClr val="bg1"/>
                </a:solidFill>
              </a:rPr>
              <a:t>AI и </a:t>
            </a:r>
            <a:r>
              <a:rPr sz="1800" b="1" dirty="0" err="1">
                <a:solidFill>
                  <a:schemeClr val="bg1"/>
                </a:solidFill>
              </a:rPr>
              <a:t>голос</a:t>
            </a:r>
            <a:endParaRPr lang="ru-RU" sz="1800" b="1" dirty="0" err="1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defRPr sz="1400"/>
            </a:pPr>
            <a:r>
              <a:t>• LM Studio</a:t>
            </a:r>
          </a:p>
          <a:p>
            <a:pPr>
              <a:defRPr sz="1400"/>
            </a:pPr>
            <a:r>
              <a:t>• OpenAI SDK</a:t>
            </a:r>
          </a:p>
          <a:p>
            <a:pPr>
              <a:defRPr sz="1400"/>
            </a:pPr>
            <a:r>
              <a:t>• faster-whisper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3291840" cy="14630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sz="1800" b="1" dirty="0" err="1">
                <a:solidFill>
                  <a:schemeClr val="bg1"/>
                </a:solidFill>
              </a:rPr>
              <a:t>Хранение</a:t>
            </a:r>
            <a:r>
              <a:rPr sz="1800" b="1" dirty="0">
                <a:solidFill>
                  <a:schemeClr val="bg1"/>
                </a:solidFill>
              </a:rPr>
              <a:t> </a:t>
            </a:r>
            <a:r>
              <a:rPr sz="1800" b="1" dirty="0" err="1">
                <a:solidFill>
                  <a:schemeClr val="bg1"/>
                </a:solidFill>
              </a:rPr>
              <a:t>данных</a:t>
            </a:r>
            <a:endParaRPr lang="ru-RU" sz="1800" b="1" dirty="0" err="1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defRPr sz="1400"/>
            </a:pPr>
            <a:r>
              <a:t>• SQLite</a:t>
            </a:r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aiosqlite</a:t>
            </a:r>
            <a:endParaRPr dirty="0" err="1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0" y="3200400"/>
            <a:ext cx="3291840" cy="14630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sz="1800" b="1" dirty="0" err="1">
                <a:solidFill>
                  <a:schemeClr val="bg1"/>
                </a:solidFill>
              </a:rPr>
              <a:t>Инфраструктура</a:t>
            </a:r>
            <a:endParaRPr lang="ru-RU" sz="1800" b="1" dirty="0" err="1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APScheduler</a:t>
            </a:r>
            <a:endParaRPr dirty="0" err="1">
              <a:ea typeface="Calibri"/>
              <a:cs typeface="Calibri"/>
            </a:endParaRPr>
          </a:p>
          <a:p>
            <a:pPr>
              <a:defRPr sz="1400"/>
            </a:pPr>
            <a:r>
              <a:rPr dirty="0"/>
              <a:t>• python-</a:t>
            </a:r>
            <a:r>
              <a:rPr dirty="0" err="1"/>
              <a:t>dotenv</a:t>
            </a:r>
            <a:endParaRPr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907113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800" b="1" dirty="0" err="1">
                <a:solidFill>
                  <a:srgbClr val="191919"/>
                </a:solidFill>
                <a:latin typeface="Georgia"/>
              </a:rPr>
              <a:t>Почему</a:t>
            </a:r>
            <a:r>
              <a:rPr sz="2800" b="1" dirty="0">
                <a:solidFill>
                  <a:srgbClr val="191919"/>
                </a:solidFill>
                <a:latin typeface="Georgia"/>
              </a:rPr>
              <a:t> </a:t>
            </a:r>
            <a:r>
              <a:rPr sz="2800" b="1" dirty="0" err="1">
                <a:solidFill>
                  <a:srgbClr val="191919"/>
                </a:solidFill>
                <a:latin typeface="Georgia"/>
              </a:rPr>
              <a:t>локальный</a:t>
            </a:r>
            <a:r>
              <a:rPr sz="2800" b="1" dirty="0">
                <a:solidFill>
                  <a:srgbClr val="191919"/>
                </a:solidFill>
                <a:latin typeface="Georgia"/>
              </a:rPr>
              <a:t> ИИ?</a:t>
            </a:r>
            <a:endParaRPr lang="ru-RU" sz="2800" b="1" dirty="0">
              <a:solidFill>
                <a:srgbClr val="191919"/>
              </a:solidFill>
              <a:latin typeface="Georg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0568" y="897599"/>
            <a:ext cx="7709675" cy="238363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2200" b="1"/>
            </a:pPr>
            <a:r>
              <a:rPr dirty="0" err="1">
                <a:latin typeface="Georgia"/>
              </a:rPr>
              <a:t>Ключевые</a:t>
            </a:r>
            <a:r>
              <a:rPr dirty="0">
                <a:latin typeface="Georgia"/>
              </a:rPr>
              <a:t> </a:t>
            </a:r>
            <a:r>
              <a:rPr dirty="0" err="1">
                <a:latin typeface="Georgia"/>
              </a:rPr>
              <a:t>преимущества</a:t>
            </a:r>
            <a:endParaRPr lang="ru-RU" dirty="0" err="1">
              <a:latin typeface="Georgia"/>
            </a:endParaRPr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Конфиденциальность</a:t>
            </a:r>
            <a:r>
              <a:rPr dirty="0"/>
              <a:t> —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отправляются</a:t>
            </a:r>
            <a:r>
              <a:rPr dirty="0"/>
              <a:t> в </a:t>
            </a:r>
            <a:r>
              <a:rPr dirty="0" err="1"/>
              <a:t>облачные</a:t>
            </a:r>
            <a:r>
              <a:rPr dirty="0"/>
              <a:t> </a:t>
            </a:r>
            <a:r>
              <a:rPr dirty="0" err="1"/>
              <a:t>сервисы</a:t>
            </a:r>
            <a:endParaRPr dirty="0" err="1">
              <a:ea typeface="Calibri"/>
              <a:cs typeface="Calibri"/>
            </a:endParaRPr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Автономность</a:t>
            </a:r>
            <a:r>
              <a:rPr dirty="0"/>
              <a:t> —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 </a:t>
            </a:r>
            <a:r>
              <a:rPr dirty="0" err="1"/>
              <a:t>доступны</a:t>
            </a:r>
            <a:r>
              <a:rPr dirty="0"/>
              <a:t> </a:t>
            </a: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интернета</a:t>
            </a:r>
            <a:endParaRPr dirty="0" err="1">
              <a:ea typeface="Calibri"/>
              <a:cs typeface="Calibri"/>
            </a:endParaRPr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Контроль</a:t>
            </a:r>
            <a:r>
              <a:rPr dirty="0"/>
              <a:t> —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выбирать</a:t>
            </a:r>
            <a:r>
              <a:rPr dirty="0"/>
              <a:t> и </a:t>
            </a:r>
            <a:r>
              <a:rPr dirty="0" err="1"/>
              <a:t>настраивать</a:t>
            </a:r>
            <a:r>
              <a:rPr dirty="0"/>
              <a:t> AI-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свои</a:t>
            </a:r>
            <a:r>
              <a:rPr dirty="0"/>
              <a:t> </a:t>
            </a:r>
            <a:r>
              <a:rPr dirty="0" err="1"/>
              <a:t>задачи</a:t>
            </a:r>
            <a:endParaRPr dirty="0" err="1">
              <a:ea typeface="Calibri"/>
              <a:cs typeface="Calibri"/>
            </a:endParaRPr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Гибкость</a:t>
            </a:r>
            <a:r>
              <a:rPr dirty="0"/>
              <a:t> —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легко</a:t>
            </a:r>
            <a:r>
              <a:rPr dirty="0"/>
              <a:t> </a:t>
            </a:r>
            <a:r>
              <a:rPr dirty="0" err="1"/>
              <a:t>адаптировать</a:t>
            </a:r>
            <a:r>
              <a:rPr dirty="0"/>
              <a:t> и </a:t>
            </a:r>
            <a:r>
              <a:rPr dirty="0" err="1"/>
              <a:t>расширять</a:t>
            </a:r>
            <a:endParaRPr dirty="0" err="1">
              <a:ea typeface="Calibri"/>
              <a:cs typeface="Calibri"/>
            </a:endParaRPr>
          </a:p>
          <a:p>
            <a:pPr>
              <a:defRPr sz="1600"/>
            </a:pPr>
            <a:r>
              <a:rPr lang="ru-RU" dirty="0"/>
              <a:t>•</a:t>
            </a:r>
            <a:r>
              <a:rPr dirty="0"/>
              <a:t> </a:t>
            </a: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—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подходящем</a:t>
            </a:r>
            <a:r>
              <a:rPr dirty="0"/>
              <a:t> </a:t>
            </a:r>
            <a:r>
              <a:rPr dirty="0" err="1"/>
              <a:t>железе</a:t>
            </a:r>
            <a:r>
              <a:rPr dirty="0"/>
              <a:t> </a:t>
            </a:r>
            <a:r>
              <a:rPr dirty="0" err="1"/>
              <a:t>бот</a:t>
            </a:r>
            <a:r>
              <a:rPr dirty="0"/>
              <a:t>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вашем</a:t>
            </a:r>
            <a:r>
              <a:rPr dirty="0"/>
              <a:t> ПК</a:t>
            </a:r>
          </a:p>
          <a:p>
            <a:pPr>
              <a:defRPr sz="1600"/>
            </a:pPr>
            <a:r>
              <a:rPr lang="en-US" dirty="0">
                <a:ea typeface="Calibri"/>
                <a:cs typeface="Calibri"/>
              </a:rPr>
              <a:t>• </a:t>
            </a:r>
            <a:r>
              <a:rPr lang="ru-RU" dirty="0" smtClean="0">
                <a:ea typeface="Calibri"/>
                <a:cs typeface="Calibri"/>
              </a:rPr>
              <a:t>Дешевизна </a:t>
            </a:r>
            <a:r>
              <a:rPr lang="en-US" dirty="0" smtClean="0">
                <a:ea typeface="Calibri"/>
                <a:cs typeface="Calibri"/>
              </a:rPr>
              <a:t>- </a:t>
            </a:r>
            <a:r>
              <a:rPr lang="en-US" dirty="0" err="1">
                <a:ea typeface="Calibri"/>
                <a:cs typeface="Calibri"/>
              </a:rPr>
              <a:t>почти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бесплатен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по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сравнению</a:t>
            </a:r>
            <a:r>
              <a:rPr lang="en-US" dirty="0">
                <a:ea typeface="Calibri"/>
                <a:cs typeface="Calibri"/>
              </a:rPr>
              <a:t> с API Yandex 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0844" y="3369509"/>
            <a:ext cx="7713184" cy="156638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defRPr sz="2200" b="1"/>
            </a:pPr>
            <a:r>
              <a:rPr lang="ru-RU" dirty="0" smtClean="0">
                <a:latin typeface="Georgia"/>
              </a:rPr>
              <a:t>Минимальные </a:t>
            </a:r>
            <a:r>
              <a:rPr smtClean="0">
                <a:latin typeface="Georgia"/>
              </a:rPr>
              <a:t>требования</a:t>
            </a:r>
            <a:r>
              <a:rPr lang="ru-RU" dirty="0" smtClean="0">
                <a:latin typeface="Georgia"/>
              </a:rPr>
              <a:t> </a:t>
            </a:r>
            <a:endParaRPr lang="ru-RU" dirty="0">
              <a:latin typeface="Georgia"/>
            </a:endParaRPr>
          </a:p>
          <a:p>
            <a:pPr>
              <a:defRPr sz="1600"/>
            </a:pPr>
            <a:r>
              <a:rPr dirty="0"/>
              <a:t>• LM Studio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локального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</a:t>
            </a:r>
            <a:r>
              <a:rPr dirty="0" err="1"/>
              <a:t>моделей</a:t>
            </a:r>
            <a:endParaRPr dirty="0" err="1">
              <a:ea typeface="Calibri"/>
              <a:cs typeface="Calibri"/>
            </a:endParaRPr>
          </a:p>
          <a:p>
            <a:pPr>
              <a:defRPr sz="1600"/>
            </a:pPr>
            <a:r>
              <a:rPr dirty="0"/>
              <a:t>• 8–16 ГБ RAM в </a:t>
            </a:r>
            <a:r>
              <a:rPr dirty="0" err="1"/>
              <a:t>зависимости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модели</a:t>
            </a:r>
            <a:endParaRPr dirty="0" err="1">
              <a:ea typeface="Calibri"/>
              <a:cs typeface="Calibri"/>
            </a:endParaRPr>
          </a:p>
          <a:p>
            <a:pPr>
              <a:defRPr sz="1600"/>
            </a:pPr>
            <a:r>
              <a:rPr dirty="0"/>
              <a:t>• GPU — </a:t>
            </a:r>
            <a:r>
              <a:rPr dirty="0" err="1"/>
              <a:t>опционально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ускорения</a:t>
            </a:r>
            <a:endParaRPr dirty="0" err="1">
              <a:ea typeface="Calibri"/>
              <a:cs typeface="Calibri"/>
            </a:endParaRPr>
          </a:p>
          <a:p>
            <a:pPr>
              <a:defRPr sz="1600"/>
            </a:pPr>
            <a:r>
              <a:t>• Python 3.10+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6481261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800" b="1" dirty="0" err="1">
                <a:solidFill>
                  <a:srgbClr val="191919"/>
                </a:solidFill>
                <a:latin typeface="Georgia"/>
              </a:rPr>
              <a:t>Практическая</a:t>
            </a:r>
            <a:r>
              <a:rPr sz="2800" b="1" dirty="0">
                <a:solidFill>
                  <a:srgbClr val="191919"/>
                </a:solidFill>
                <a:latin typeface="Georgia"/>
              </a:rPr>
              <a:t> </a:t>
            </a:r>
            <a:r>
              <a:rPr sz="2800" b="1" dirty="0" err="1">
                <a:solidFill>
                  <a:srgbClr val="191919"/>
                </a:solidFill>
                <a:latin typeface="Georgia"/>
              </a:rPr>
              <a:t>ценность</a:t>
            </a:r>
            <a:r>
              <a:rPr sz="2800" b="1" dirty="0">
                <a:solidFill>
                  <a:srgbClr val="191919"/>
                </a:solidFill>
                <a:latin typeface="Georgia"/>
              </a:rPr>
              <a:t> </a:t>
            </a:r>
            <a:r>
              <a:rPr sz="2800" b="1" dirty="0" err="1">
                <a:solidFill>
                  <a:srgbClr val="191919"/>
                </a:solidFill>
                <a:latin typeface="Georgia"/>
              </a:rPr>
              <a:t>проекта</a:t>
            </a:r>
            <a:endParaRPr lang="ru-RU" sz="2800" b="1" dirty="0" err="1">
              <a:solidFill>
                <a:srgbClr val="191919"/>
              </a:solidFill>
              <a:latin typeface="Georg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65948" y="1034208"/>
            <a:ext cx="7315200" cy="7315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/>
              <a:t>Единая система продуктивности
</a:t>
            </a:r>
            <a:r>
              <a:rPr sz="1400"/>
              <a:t>Задачи, расписание, привычки и аналитика в одном Telegram-боте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5948" y="1948608"/>
            <a:ext cx="7315200" cy="7315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/>
              <a:t>AI-помощник
</a:t>
            </a:r>
            <a:r>
              <a:rPr sz="1400"/>
              <a:t>Генерация расписания, поддержка диалога и помощь в организации дня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5948" y="2863008"/>
            <a:ext cx="7315200" cy="7315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/>
              <a:t>Голосовое взаимодействие
</a:t>
            </a:r>
            <a:r>
              <a:rPr sz="1400"/>
              <a:t>Быстрое добавление задач и заметок голосом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5948" y="3777408"/>
            <a:ext cx="7315200" cy="7315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/>
              <a:t>Расширяемая архитектура
</a:t>
            </a:r>
            <a:r>
              <a:rPr sz="1400"/>
              <a:t>Проект легко дорабатывать и интегрировать с другими сервисами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374094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800" b="1" dirty="0" err="1">
                <a:solidFill>
                  <a:srgbClr val="191919"/>
                </a:solidFill>
                <a:latin typeface="Georgia"/>
              </a:rPr>
              <a:t>Итоги</a:t>
            </a:r>
            <a:endParaRPr lang="ru-RU" sz="2800" b="1" dirty="0" err="1">
              <a:solidFill>
                <a:srgbClr val="191919"/>
              </a:solidFill>
              <a:latin typeface="Georg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231221" cy="1804749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 sz="2000"/>
            </a:pPr>
            <a:r>
              <a:t>• Локальный AI-ассистент для управления задачами и продуктивностью</a:t>
            </a:r>
          </a:p>
          <a:p>
            <a:pPr>
              <a:defRPr sz="2000"/>
            </a:pPr>
            <a:r>
              <a:t>• Голосовое взаимодействие через faster-whisper</a:t>
            </a:r>
          </a:p>
          <a:p>
            <a:pPr>
              <a:defRPr sz="2000"/>
            </a:pPr>
            <a:r>
              <a:t>• Гибкая архитектура и поддержка кастомизации</a:t>
            </a:r>
          </a:p>
          <a:p>
            <a:pPr>
              <a:defRPr sz="2000"/>
            </a:pPr>
            <a:r>
              <a:t>• Работа без зависимости от облачных сервисов</a:t>
            </a:r>
          </a:p>
          <a:p>
            <a:pPr>
              <a:defRPr sz="2000"/>
            </a:pPr>
            <a:r>
              <a:t>• Возможность полного запуска на собственном ПК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0418" y="3311946"/>
            <a:ext cx="6400800" cy="919401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defRPr sz="2400" i="1"/>
            </a:pPr>
            <a:r>
              <a:t>«Продуктивность и приватность без компромиссов»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445</Words>
  <Application>Microsoft Office PowerPoint</Application>
  <PresentationFormat>Экран (16:9)</PresentationFormat>
  <Paragraphs>141</Paragraphs>
  <Slides>10</Slides>
  <Notes>10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Office Theme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TManager</dc:title>
  <dc:subject>PptxGenJS Presentation</dc:subject>
  <dc:creator>TManager</dc:creator>
  <cp:lastModifiedBy>Пользователь</cp:lastModifiedBy>
  <cp:revision>104</cp:revision>
  <dcterms:created xsi:type="dcterms:W3CDTF">2026-05-14T18:41:52Z</dcterms:created>
  <dcterms:modified xsi:type="dcterms:W3CDTF">2026-05-15T22:38:42Z</dcterms:modified>
</cp:coreProperties>
</file>